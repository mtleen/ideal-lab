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lide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994595"/>
            <a:ext cx="7048500" cy="2381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Microsoft YaHei"/>
              </a:rPr>
              <a:t>Software Delivery Platform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2423220"/>
            <a:ext cx="7048500" cy="10057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>
                <a:solidFill>
                  <a:srgbClr val="FFFFFF"/>
                </a:solidFill>
                <a:latin typeface="Microsoft YaHei"/>
              </a:rPr>
              <a:t>Harness 工程平台 技术架构与最佳实践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838575"/>
            <a:ext cx="7048500" cy="5485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Microsoft YaHei"/>
              </a:rPr>
              <a:t>AI 驱动的 CI/CD、云成本管理、安全测试与混沌工程 一体化 DevOps 平台 — 从代码提交到生产部署的全链路自动化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691955"/>
            <a:ext cx="852636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FFFFFF"/>
                </a:solidFill>
                <a:latin typeface="Microsoft YaHei"/>
              </a:rPr>
              <a:t>2026 技术分享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4636" y="4691955"/>
            <a:ext cx="1873895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FFFFFF"/>
                </a:solidFill>
                <a:latin typeface="Microsoft YaHei"/>
              </a:rPr>
              <a:t>DevOps / Platform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9031" y="4691955"/>
            <a:ext cx="757833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FFFFFF"/>
                </a:solidFill>
                <a:latin typeface="Microsoft YaHei"/>
              </a:rPr>
              <a:t>内部技术交流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2925" y="1624012"/>
            <a:ext cx="3295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97706"/>
                </a:solidFill>
                <a:latin typeface="Microsoft YaHei"/>
              </a:rPr>
              <a:t>70%+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2925" y="1966912"/>
            <a:ext cx="32956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部署频率提升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2925" y="2605088"/>
            <a:ext cx="3295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97706"/>
                </a:solidFill>
                <a:latin typeface="Microsoft YaHei"/>
              </a:rPr>
              <a:t>60%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2925" y="2947988"/>
            <a:ext cx="32956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云成本优化幅度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2925" y="3586162"/>
            <a:ext cx="3295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97706"/>
                </a:solidFill>
                <a:latin typeface="Microsoft YaHei"/>
              </a:rPr>
              <a:t>3x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2925" y="3929062"/>
            <a:ext cx="3295650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变更交付加速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4405312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CI/CD 智能流水线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4672012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云成本自动优化 (CCM)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4938712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安全测试编排 (STO)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5205412"/>
            <a:ext cx="36195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特性开关管理 (FF)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slide-what-is-har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304800"/>
            <a:ext cx="45999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111827"/>
                </a:solidFill>
                <a:latin typeface="Microsoft YaHei"/>
              </a:rPr>
              <a:t>什么是 Harness？——统一软件交付平台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1057275"/>
            <a:ext cx="5286375" cy="214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563EB"/>
                </a:solidFill>
                <a:latin typeface="Microsoft YaHei"/>
              </a:rPr>
              <a:t>CI 智能构建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328738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AI 推荐构建步骤，自动优化构建速度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533525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支持 Docker/K8s/VM 多种执行器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738312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缓存策略：BuildKit 镜像缓存 + 挂载缓存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943100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并行测试分片，构建时间缩短 60%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2700" y="1057275"/>
            <a:ext cx="5286375" cy="214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059669"/>
                </a:solidFill>
                <a:latin typeface="Microsoft YaHei"/>
              </a:rPr>
              <a:t>CD 持续部署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700" y="1328738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Canary / Blue-Green / Rolling 多策略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2700" y="1533525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自动回滚：指标异常即时触发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2700" y="1738312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GitOps 原生支持（ArgoCD 集成）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62700" y="1943100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审批流 + RBAC 多环境管控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2566988"/>
            <a:ext cx="5286375" cy="214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DC2626"/>
                </a:solidFill>
                <a:latin typeface="Microsoft YaHei"/>
              </a:rPr>
              <a:t>STO 安全测试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" y="2838450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SAST/DAST/SCA 三位一体扫描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3043238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集成 30+ 安全工具（SonarQube/Veracode/...）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" y="3248025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漏洞分级 + 自动阻断高风险部署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3452812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合规报告一键生成（SOC2/ISO27001）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2700" y="2566988"/>
            <a:ext cx="5286375" cy="214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7C3AED"/>
                </a:solidFill>
                <a:latin typeface="Microsoft YaHei"/>
              </a:rPr>
              <a:t>CCM 云成本管理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2700" y="2838450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实时资源利用率监控 + 闲置资源识别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2700" y="3043238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自动 Right-sizing 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2700" y="3248025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Spot 实例智能调度，节省 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2700" y="3452812"/>
            <a:ext cx="5286375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成本归属：团队/服务/环境维度分账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725" y="4057650"/>
            <a:ext cx="2600325" cy="2933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563EB"/>
                </a:solidFill>
                <a:latin typeface="Microsoft YaHei"/>
              </a:rPr>
              <a:t>5M+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725" y="4389090"/>
            <a:ext cx="2600325" cy="15716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4B5563"/>
                </a:solidFill>
                <a:latin typeface="Microsoft YaHei"/>
              </a:rPr>
              <a:t>月活跃开发者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52800" y="4057650"/>
            <a:ext cx="2600325" cy="2933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59669"/>
                </a:solidFill>
                <a:latin typeface="Microsoft YaHei"/>
              </a:rPr>
              <a:t>99.9%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2800" y="4389090"/>
            <a:ext cx="2600325" cy="15716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4B5563"/>
                </a:solidFill>
                <a:latin typeface="Microsoft YaHei"/>
              </a:rPr>
              <a:t>平台可用性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38875" y="4057650"/>
            <a:ext cx="2600325" cy="2933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C2626"/>
                </a:solidFill>
                <a:latin typeface="Microsoft YaHei"/>
              </a:rPr>
              <a:t>30+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38875" y="4389090"/>
            <a:ext cx="2600325" cy="15716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4B5563"/>
                </a:solidFill>
                <a:latin typeface="Microsoft YaHei"/>
              </a:rPr>
              <a:t>云供应商集成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4950" y="4057650"/>
            <a:ext cx="2600325" cy="2933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7C3AED"/>
                </a:solidFill>
                <a:latin typeface="Microsoft YaHei"/>
              </a:rPr>
              <a:t>60%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24950" y="4389090"/>
            <a:ext cx="2600325" cy="15716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4B5563"/>
                </a:solidFill>
                <a:latin typeface="Microsoft YaHei"/>
              </a:rPr>
              <a:t>平均成本优化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slid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266700"/>
            <a:ext cx="3937992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827"/>
                </a:solidFill>
                <a:latin typeface="Microsoft YaHei"/>
              </a:rPr>
              <a:t>平台架构：四层分离 + Delegate 代理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900112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97706"/>
                </a:solidFill>
                <a:latin typeface="Microsoft YaHei"/>
              </a:rPr>
              <a:t>用户接入层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9700" y="895350"/>
            <a:ext cx="79563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研发团队 50人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2960" y="895350"/>
            <a:ext cx="776883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测试团队 15人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7468" y="895350"/>
            <a:ext cx="734616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运维团队 8人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59709" y="895350"/>
            <a:ext cx="639812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API 调用方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8031" y="1190625"/>
            <a:ext cx="7381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Microsoft YaHei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850" y="1190625"/>
            <a:ext cx="7381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Microsoft YaHei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1452562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DC2626"/>
                </a:solidFill>
                <a:latin typeface="Microsoft YaHei"/>
              </a:rPr>
              <a:t>接入网关层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9700" y="1447800"/>
            <a:ext cx="763191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API Gateway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0516" y="1447800"/>
            <a:ext cx="774799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GraphQL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2940" y="1447800"/>
            <a:ext cx="59814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Webhook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705" y="1447800"/>
            <a:ext cx="676721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Git Trigger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3052" y="1447800"/>
            <a:ext cx="541883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统一鉴权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8031" y="1743075"/>
            <a:ext cx="7381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Microsoft YaHei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850" y="1743075"/>
            <a:ext cx="7381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Microsoft YaHei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450" y="2005012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563EB"/>
                </a:solidFill>
                <a:latin typeface="Microsoft YaHei"/>
              </a:rPr>
              <a:t>平台编排层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9700" y="2000250"/>
            <a:ext cx="898773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Pipeline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56098" y="2000250"/>
            <a:ext cx="922288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Strategy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26011" y="2000250"/>
            <a:ext cx="432048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RBAC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5684" y="2000250"/>
            <a:ext cx="825550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Template Hub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8859" y="2000250"/>
            <a:ext cx="518368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AIDA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8031" y="2295525"/>
            <a:ext cx="7381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Microsoft YaHei"/>
              </a:rPr>
              <a:t>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33850" y="2295525"/>
            <a:ext cx="7381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Microsoft YaHei"/>
              </a:rP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450" y="2557462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7C3AED"/>
                </a:solidFill>
                <a:latin typeface="Microsoft YaHei"/>
              </a:rPr>
              <a:t>执行引擎层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9700" y="2552700"/>
            <a:ext cx="628352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CI Builder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85677" y="2552700"/>
            <a:ext cx="757833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CD Deployer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1135" y="2552700"/>
            <a:ext cx="78298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STO Scanner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745" y="2552700"/>
            <a:ext cx="72330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FF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2675" y="2552700"/>
            <a:ext cx="703362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CCM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43661" y="2552700"/>
            <a:ext cx="454372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Chaos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8031" y="2847975"/>
            <a:ext cx="7381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Microsoft YaHei"/>
              </a:rPr>
              <a:t>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33850" y="2847975"/>
            <a:ext cx="73819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CA3AF"/>
                </a:solidFill>
                <a:latin typeface="Microsoft YaHei"/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2450" y="3109912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59669"/>
                </a:solidFill>
                <a:latin typeface="Microsoft YaHei"/>
              </a:rPr>
              <a:t>基础设施层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09700" y="3105150"/>
            <a:ext cx="613172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AWS EKS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70497" y="3105150"/>
            <a:ext cx="610195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GCP GKE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28317" y="3105150"/>
            <a:ext cx="664369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Azure AKS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40311" y="3105150"/>
            <a:ext cx="596354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On-Prem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84290" y="3105150"/>
            <a:ext cx="634008" cy="180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Microsoft YaHei"/>
              </a:rPr>
              <a:t>Terraform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58075" y="923925"/>
            <a:ext cx="42291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2563EB"/>
                </a:solidFill>
                <a:latin typeface="Microsoft YaHei"/>
              </a:rPr>
              <a:t>Delegate 代理机制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8075" y="1147762"/>
            <a:ext cx="4229100" cy="2931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4B5563"/>
                </a:solidFill>
                <a:latin typeface="Microsoft YaHei"/>
              </a:rPr>
              <a:t>轻量级代理部署在用户 VPC 内，出站连接（无需暴露端口），执行构建/部署任务。支持 K8s/Docker/Shell 三种运行模式，自动升级、健康检查、连接池管理。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8075" y="1745754"/>
            <a:ext cx="42291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59669"/>
                </a:solidFill>
                <a:latin typeface="Microsoft YaHei"/>
              </a:rPr>
              <a:t>AIDA AI 智能引擎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8075" y="1969591"/>
            <a:ext cx="4229100" cy="2931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4B5563"/>
                </a:solidFill>
                <a:latin typeface="Microsoft YaHei"/>
              </a:rPr>
              <a:t>内置 AI 助手：自动推荐 Pipeline 步骤、分析部署异常根因、优化云资源配额、生成变更摘要。基于 GPT-4/Claude 多模型路由。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58075" y="2567583"/>
            <a:ext cx="42291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D97706"/>
                </a:solidFill>
                <a:latin typeface="Microsoft YaHei"/>
              </a:rPr>
              <a:t>数据存储架构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58075" y="2791420"/>
            <a:ext cx="4229100" cy="2931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4B5563"/>
                </a:solidFill>
                <a:latin typeface="Microsoft YaHei"/>
              </a:rPr>
              <a:t>TimescaleDB（时序指标 + Pipeline 历史）、MongoDB（配置 + 模板）、Redis（高速缓存 + 会话）、S3（制品 + 日志归档）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2825" y="3446562"/>
            <a:ext cx="103584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563EB"/>
                </a:solidFill>
                <a:latin typeface="Microsoft YaHei"/>
              </a:rPr>
              <a:t>99.99%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2825" y="3675162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  <a:latin typeface="Microsoft YaHei"/>
              </a:rPr>
              <a:t>服务可用性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84394" y="3446562"/>
            <a:ext cx="103584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059669"/>
                </a:solidFill>
                <a:latin typeface="Microsoft YaHei"/>
              </a:rPr>
              <a:t>&lt;50ms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84394" y="3675162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  <a:latin typeface="Microsoft YaHei"/>
              </a:rPr>
              <a:t>P99 延迟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5962" y="3446562"/>
            <a:ext cx="103584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D97706"/>
                </a:solidFill>
                <a:latin typeface="Microsoft YaHei"/>
              </a:rPr>
              <a:t>10K+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5962" y="3675162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  <a:latin typeface="Microsoft YaHei"/>
              </a:rPr>
              <a:t>峰值并发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727531" y="3446562"/>
            <a:ext cx="1035844" cy="2095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7C3AED"/>
                </a:solidFill>
                <a:latin typeface="Microsoft YaHei"/>
              </a:rPr>
              <a:t>50+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7531" y="3675162"/>
            <a:ext cx="1035844" cy="142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4B5563"/>
                </a:solidFill>
                <a:latin typeface="Microsoft YaHei"/>
              </a:rPr>
              <a:t>Delegate 集群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slide-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266700"/>
            <a:ext cx="3877568" cy="4191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11827"/>
                </a:solidFill>
                <a:latin typeface="Microsoft YaHei"/>
              </a:rPr>
              <a:t>核心能力对比：Harness vs 自建方案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2925" y="962025"/>
            <a:ext cx="531495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DC2626"/>
                </a:solidFill>
                <a:latin typeface="Microsoft YaHei"/>
              </a:rPr>
              <a:t>自建 CI/CD 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1252538"/>
            <a:ext cx="531495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Jenkins + Spinnaker + ArgoCD 拼装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2925" y="1476375"/>
            <a:ext cx="531495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开发周期：6-9 个月，团队需求 8-10 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2925" y="1700212"/>
            <a:ext cx="531495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年运维成本：≈¥180 万（人力 + 服务器）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2925" y="1924050"/>
            <a:ext cx="531495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安全扫描：需单独集成 SAST/DAST/SCA 工具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25" y="2147888"/>
            <a:ext cx="531495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成本优化：手动分析，无自动化建议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650" y="971550"/>
            <a:ext cx="52959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2563EB"/>
                </a:solidFill>
                <a:latin typeface="Microsoft YaHei"/>
              </a:rPr>
              <a:t>✓ Harness 一体化平台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3650" y="1262062"/>
            <a:ext cx="52959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开箱即用，部署周期 2-4 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3650" y="1485900"/>
            <a:ext cx="52959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学习成本低，可视化 YAML + Drag&amp;Drop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3650" y="1709738"/>
            <a:ext cx="52959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综合成本降低 60%（含 CCM 优化）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3650" y="1933575"/>
            <a:ext cx="52959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STO 安全编排：30+ 工具一键集成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43650" y="2157412"/>
            <a:ext cx="52959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4B5563"/>
                </a:solidFill>
                <a:latin typeface="Microsoft YaHei"/>
              </a:rPr>
              <a:t>AI 智能推荐步骤、根因分析、资源优化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000" y="2647950"/>
            <a:ext cx="11430000" cy="21431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11827"/>
                </a:solidFill>
                <a:latin typeface="Microsoft YaHei"/>
              </a:rPr>
              <a:t>关键指标对比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2925" y="4957762"/>
            <a:ext cx="34290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2563EB"/>
                </a:solidFill>
                <a:latin typeface="Microsoft YaHei"/>
              </a:rPr>
              <a:t>Pipeline 即代码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5181600"/>
            <a:ext cx="3429000" cy="2931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4B5563"/>
                </a:solidFill>
                <a:latin typeface="Microsoft YaHei"/>
              </a:rPr>
              <a:t>YAML 定义 + 可视化编辑，200+ 内置 Step 模板，支持自定义插件。版本控制、复用、审计追踪一体化。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1025" y="4957762"/>
            <a:ext cx="34290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059669"/>
                </a:solidFill>
                <a:latin typeface="Microsoft YaHei"/>
              </a:rPr>
              <a:t>智能回滚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91025" y="5181600"/>
            <a:ext cx="3429000" cy="2931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4B5563"/>
                </a:solidFill>
                <a:latin typeface="Microsoft YaHei"/>
              </a:rPr>
              <a:t>基于指标（错误率/延迟/CPU）自动判断部署健康度，异常时自动回滚到上一个稳定版本，无需人工介入。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9125" y="4957762"/>
            <a:ext cx="3429000" cy="18573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1">
                <a:solidFill>
                  <a:srgbClr val="7C3AED"/>
                </a:solidFill>
                <a:latin typeface="Microsoft YaHei"/>
              </a:rPr>
              <a:t>多云统一管理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9125" y="5181600"/>
            <a:ext cx="3429000" cy="293191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4B5563"/>
                </a:solidFill>
                <a:latin typeface="Microsoft YaHei"/>
              </a:rPr>
              <a:t>一套 Pipeline 适配 AWS/GCP/Azure/阿里云/本地 K8s，环境配置标准化，切换零成本。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81000" y="2938462"/>
          <a:ext cx="11430000" cy="1800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3000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827"/>
                          </a:solidFill>
                          <a:latin typeface="Microsoft YaHei"/>
                        </a:rPr>
                        <a:t>对比维度</a:t>
                      </a:r>
                    </a:p>
                  </a:txBody>
                  <a:tcPr marL="38100" marR="38100" marT="19050" marB="190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827"/>
                          </a:solidFill>
                          <a:latin typeface="Microsoft YaHei"/>
                        </a:rPr>
                        <a:t>自建方案</a:t>
                      </a:r>
                    </a:p>
                  </a:txBody>
                  <a:tcPr marL="38100" marR="38100" marT="19050" marB="190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827"/>
                          </a:solidFill>
                          <a:latin typeface="Microsoft YaHei"/>
                        </a:rPr>
                        <a:t>Harness 平台</a:t>
                      </a:r>
                    </a:p>
                  </a:txBody>
                  <a:tcPr marL="38100" marR="38100" marT="19050" marB="1905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111827"/>
                          </a:solidFill>
                          <a:latin typeface="Microsoft YaHei"/>
                        </a:rPr>
                        <a:t>差异</a:t>
                      </a:r>
                    </a:p>
                  </a:txBody>
                  <a:tcPr marL="38100" marR="38100" marT="19050" marB="19050">
                    <a:solidFill>
                      <a:srgbClr val="F3F4F6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部署频率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日均 2-3 次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日均 10+ 次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3-5x 提升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变更交付时间</a:t>
                      </a:r>
                    </a:p>
                  </a:txBody>
                  <a:tcPr marL="38100" marR="38100" marT="19050" marB="1905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2-5 天</a:t>
                      </a:r>
                    </a:p>
                  </a:txBody>
                  <a:tcPr marL="38100" marR="38100" marT="19050" marB="1905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2-4 小时</a:t>
                      </a:r>
                    </a:p>
                  </a:txBody>
                  <a:tcPr marL="38100" marR="38100" marT="19050" marB="1905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90% 缩短</a:t>
                      </a:r>
                    </a:p>
                  </a:txBody>
                  <a:tcPr marL="38100" marR="38100" marT="19050" marB="19050">
                    <a:solidFill>
                      <a:srgbClr val="F9FAFB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变更失败率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15-20%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&lt; 5%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降低 75%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MTTR（恢复时间）</a:t>
                      </a:r>
                    </a:p>
                  </a:txBody>
                  <a:tcPr marL="38100" marR="38100" marT="19050" marB="1905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4-8 小时</a:t>
                      </a:r>
                    </a:p>
                  </a:txBody>
                  <a:tcPr marL="38100" marR="38100" marT="19050" marB="1905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&lt; 30 分钟</a:t>
                      </a:r>
                    </a:p>
                  </a:txBody>
                  <a:tcPr marL="38100" marR="38100" marT="19050" marB="19050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90% 缩短</a:t>
                      </a:r>
                    </a:p>
                  </a:txBody>
                  <a:tcPr marL="38100" marR="38100" marT="19050" marB="19050">
                    <a:solidFill>
                      <a:srgbClr val="F9FAFB"/>
                    </a:solidFill>
                  </a:tcPr>
                </a:tc>
              </a:tr>
              <a:tr h="30003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年度总成本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≈¥350 万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≈¥140 万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4B5563"/>
                          </a:solidFill>
                          <a:latin typeface="Microsoft YaHei"/>
                        </a:rPr>
                        <a:t>节省 ¥210 万</a:t>
                      </a:r>
                    </a:p>
                  </a:txBody>
                  <a:tcPr marL="38100" marR="38100" marT="19050" marB="190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lide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381000"/>
            <a:ext cx="2161431" cy="4857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Microsoft YaHei"/>
              </a:rPr>
              <a:t>总结与下一步行动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7225" y="123825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563EB"/>
                </a:solidFill>
                <a:latin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475" y="1238250"/>
            <a:ext cx="57340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— Harness 覆盖 CI/CD/STO/CCM/FF 五大领域，无需自建 Jenkins+Spinnaker+ArgoCD 技术栈，部署周期从 6-9 个月缩短至 2-4 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475" y="1466850"/>
            <a:ext cx="1496318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一体化平台替代工具拼装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7225" y="20574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59669"/>
                </a:solidFill>
                <a:latin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475" y="2057400"/>
            <a:ext cx="57340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— AIDA 引擎自动推荐 Pipeline 步骤、根因分析部署异常、优化云资源配额，减少 70% 人工决策和排障时间。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475" y="2286000"/>
            <a:ext cx="1133326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AI 驱动的智能交付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7225" y="287655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97706"/>
                </a:solidFill>
                <a:latin typeface="Microsoft YaHei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475" y="2876550"/>
            <a:ext cx="57340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— 年度总成本从 ¥350 万降至 ¥140 万，节省 ¥210 万。CCM 模块持续优化云支出，Spot 实例调度节省 70%。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475" y="3105150"/>
            <a:ext cx="816173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显著成本节约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7225" y="369570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7C3AED"/>
                </a:solidFill>
                <a:latin typeface="Microsoft YaHei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475" y="3695700"/>
            <a:ext cx="57340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— STO 编排 30+ 安全工具，漏洞自动阻断高风险部署，一键生成 SOC2/ISO27001 合规报告，审计零盲区。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475" y="3924300"/>
            <a:ext cx="816173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安全合规内建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4514850"/>
            <a:ext cx="3429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C2626"/>
                </a:solidFill>
                <a:latin typeface="Microsoft YaHei"/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475" y="4514850"/>
            <a:ext cx="5734050" cy="4000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Microsoft YaHei"/>
              </a:rPr>
              <a:t>— 一套 Pipeline 适配 AWS/GCP/Azure/阿里云/本地 K8s，环境标准化，供应商切换零成本，避免锁定。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475" y="4743450"/>
            <a:ext cx="816173" cy="1905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多云统一管理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6175" y="1257300"/>
            <a:ext cx="18192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563EB"/>
                </a:solidFill>
                <a:latin typeface="Microsoft YaHei"/>
              </a:rPr>
              <a:t>3-5x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6175" y="1647825"/>
            <a:ext cx="181927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部署频率提升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34550" y="1257300"/>
            <a:ext cx="18192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59669"/>
                </a:solidFill>
                <a:latin typeface="Microsoft YaHei"/>
              </a:rPr>
              <a:t>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4550" y="1647825"/>
            <a:ext cx="181927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交付时间缩短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6175" y="2266950"/>
            <a:ext cx="18192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D97706"/>
                </a:solidFill>
                <a:latin typeface="Microsoft YaHei"/>
              </a:rPr>
              <a:t>60%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6175" y="2657475"/>
            <a:ext cx="181927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云成本优化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34550" y="2266950"/>
            <a:ext cx="1819275" cy="3524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7C3AED"/>
                </a:solidFill>
                <a:latin typeface="Microsoft YaHei"/>
              </a:rPr>
              <a:t>&lt;5%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4550" y="2657475"/>
            <a:ext cx="1819275" cy="1619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FFFFFF"/>
                </a:solidFill>
                <a:latin typeface="Microsoft YaHei"/>
              </a:rPr>
              <a:t>变更失败率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5225" y="3800475"/>
            <a:ext cx="4019550" cy="20002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D97706"/>
                </a:solidFill>
                <a:latin typeface="Microsoft YaHei"/>
              </a:rPr>
              <a:t>建议下一步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5225" y="4076700"/>
            <a:ext cx="40195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FFFFFF"/>
                </a:solidFill>
                <a:latin typeface="Microsoft YaHei"/>
              </a:rPr>
              <a:t>POC 环境搭建（2 周）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5225" y="4286250"/>
            <a:ext cx="40195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FFFFFF"/>
                </a:solidFill>
                <a:latin typeface="Microsoft YaHei"/>
              </a:rPr>
              <a:t>核心 Pipeline 迁移试点（1 个月）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5225" y="4495800"/>
            <a:ext cx="40195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FFFFFF"/>
                </a:solidFill>
                <a:latin typeface="Microsoft YaHei"/>
              </a:rPr>
              <a:t>团队培训 + 推广（2 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5225" y="4705350"/>
            <a:ext cx="4019550" cy="1714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5" b="0">
                <a:solidFill>
                  <a:srgbClr val="FFFFFF"/>
                </a:solidFill>
                <a:latin typeface="Microsoft YaHei"/>
              </a:rPr>
              <a:t>全面切换 + CCM 启用（1 个月）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27629" y="6515100"/>
            <a:ext cx="2588121" cy="152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5" b="0">
                <a:solidFill>
                  <a:srgbClr val="FFFFFF"/>
                </a:solidFill>
                <a:latin typeface="Microsoft YaHei"/>
              </a:rPr>
              <a:t>Harness Engineering Platform · 2026 内部技术分享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